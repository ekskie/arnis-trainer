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handoutMasterIdLst>
    <p:handoutMasterId r:id="rId16"/>
  </p:handoutMasterIdLst>
  <p:sldIdLst>
    <p:sldId id="256" r:id="rId2"/>
    <p:sldId id="265" r:id="rId3"/>
    <p:sldId id="257" r:id="rId4"/>
    <p:sldId id="267" r:id="rId5"/>
    <p:sldId id="266" r:id="rId6"/>
    <p:sldId id="268" r:id="rId7"/>
    <p:sldId id="261" r:id="rId8"/>
    <p:sldId id="263" r:id="rId9"/>
    <p:sldId id="262" r:id="rId10"/>
    <p:sldId id="258" r:id="rId11"/>
    <p:sldId id="269" r:id="rId12"/>
    <p:sldId id="264" r:id="rId13"/>
    <p:sldId id="270" r:id="rId14"/>
    <p:sldId id="259" r:id="rId15"/>
  </p:sldIdLst>
  <p:sldSz cx="12192000" cy="6858000"/>
  <p:notesSz cx="7099300" cy="10234613"/>
  <p:embeddedFontLst>
    <p:embeddedFont>
      <p:font typeface="Century Gothic" panose="020B050202020202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784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E2C6BD-F422-48AF-BF56-70C8BF412536}" v="14" dt="2026-05-27T14:26:10.4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9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 23" userId="c4862c69ed81f0c6" providerId="LiveId" clId="{82814BDE-9628-4F48-B5C7-FAECB8EE5E35}"/>
    <pc:docChg chg="undo custSel delSld modSld">
      <pc:chgData name="Bry 23" userId="c4862c69ed81f0c6" providerId="LiveId" clId="{82814BDE-9628-4F48-B5C7-FAECB8EE5E35}" dt="2026-05-27T14:27:50.458" v="72" actId="2711"/>
      <pc:docMkLst>
        <pc:docMk/>
      </pc:docMkLst>
      <pc:sldChg chg="modSp mod">
        <pc:chgData name="Bry 23" userId="c4862c69ed81f0c6" providerId="LiveId" clId="{82814BDE-9628-4F48-B5C7-FAECB8EE5E35}" dt="2026-05-27T14:27:08.820" v="65" actId="2711"/>
        <pc:sldMkLst>
          <pc:docMk/>
          <pc:sldMk cId="1942831621" sldId="258"/>
        </pc:sldMkLst>
        <pc:spChg chg="mod">
          <ac:chgData name="Bry 23" userId="c4862c69ed81f0c6" providerId="LiveId" clId="{82814BDE-9628-4F48-B5C7-FAECB8EE5E35}" dt="2026-05-27T14:27:00.183" v="64" actId="2711"/>
          <ac:spMkLst>
            <pc:docMk/>
            <pc:sldMk cId="1942831621" sldId="258"/>
            <ac:spMk id="11" creationId="{C41EF7E6-1B41-A86C-7BFB-B5FD2B31AAB0}"/>
          </ac:spMkLst>
        </pc:spChg>
        <pc:spChg chg="mod">
          <ac:chgData name="Bry 23" userId="c4862c69ed81f0c6" providerId="LiveId" clId="{82814BDE-9628-4F48-B5C7-FAECB8EE5E35}" dt="2026-05-27T14:27:08.820" v="65" actId="2711"/>
          <ac:spMkLst>
            <pc:docMk/>
            <pc:sldMk cId="1942831621" sldId="258"/>
            <ac:spMk id="13" creationId="{11CABC2F-B430-0C4A-475B-BF50FC697803}"/>
          </ac:spMkLst>
        </pc:spChg>
        <pc:picChg chg="mod">
          <ac:chgData name="Bry 23" userId="c4862c69ed81f0c6" providerId="LiveId" clId="{82814BDE-9628-4F48-B5C7-FAECB8EE5E35}" dt="2026-05-27T14:17:01.696" v="0" actId="14826"/>
          <ac:picMkLst>
            <pc:docMk/>
            <pc:sldMk cId="1942831621" sldId="258"/>
            <ac:picMk id="4" creationId="{40A5ECE4-135F-E485-02C7-A1A8D8ADCC6D}"/>
          </ac:picMkLst>
        </pc:picChg>
        <pc:picChg chg="mod">
          <ac:chgData name="Bry 23" userId="c4862c69ed81f0c6" providerId="LiveId" clId="{82814BDE-9628-4F48-B5C7-FAECB8EE5E35}" dt="2026-05-27T14:17:19.237" v="1" actId="14826"/>
          <ac:picMkLst>
            <pc:docMk/>
            <pc:sldMk cId="1942831621" sldId="258"/>
            <ac:picMk id="10" creationId="{A2B66C77-6335-AD39-456F-9FF668545706}"/>
          </ac:picMkLst>
        </pc:picChg>
      </pc:sldChg>
      <pc:sldChg chg="modSp mod">
        <pc:chgData name="Bry 23" userId="c4862c69ed81f0c6" providerId="LiveId" clId="{82814BDE-9628-4F48-B5C7-FAECB8EE5E35}" dt="2026-05-27T14:27:37.591" v="70" actId="1076"/>
        <pc:sldMkLst>
          <pc:docMk/>
          <pc:sldMk cId="1323361835" sldId="264"/>
        </pc:sldMkLst>
        <pc:spChg chg="mod">
          <ac:chgData name="Bry 23" userId="c4862c69ed81f0c6" providerId="LiveId" clId="{82814BDE-9628-4F48-B5C7-FAECB8EE5E35}" dt="2026-05-27T14:27:26.180" v="68" actId="2711"/>
          <ac:spMkLst>
            <pc:docMk/>
            <pc:sldMk cId="1323361835" sldId="264"/>
            <ac:spMk id="13" creationId="{94DB57F9-4675-836E-65F3-495FAFA16FBA}"/>
          </ac:spMkLst>
        </pc:spChg>
        <pc:spChg chg="mod">
          <ac:chgData name="Bry 23" userId="c4862c69ed81f0c6" providerId="LiveId" clId="{82814BDE-9628-4F48-B5C7-FAECB8EE5E35}" dt="2026-05-27T14:27:37.591" v="70" actId="1076"/>
          <ac:spMkLst>
            <pc:docMk/>
            <pc:sldMk cId="1323361835" sldId="264"/>
            <ac:spMk id="15" creationId="{D29D2EBE-B44F-7CEC-FA01-7669C9297109}"/>
          </ac:spMkLst>
        </pc:spChg>
        <pc:picChg chg="mod">
          <ac:chgData name="Bry 23" userId="c4862c69ed81f0c6" providerId="LiveId" clId="{82814BDE-9628-4F48-B5C7-FAECB8EE5E35}" dt="2026-05-27T14:24:36.790" v="53" actId="14100"/>
          <ac:picMkLst>
            <pc:docMk/>
            <pc:sldMk cId="1323361835" sldId="264"/>
            <ac:picMk id="3" creationId="{8C28BFF4-92AB-86D2-F7F0-525056B981D9}"/>
          </ac:picMkLst>
        </pc:picChg>
        <pc:picChg chg="mod">
          <ac:chgData name="Bry 23" userId="c4862c69ed81f0c6" providerId="LiveId" clId="{82814BDE-9628-4F48-B5C7-FAECB8EE5E35}" dt="2026-05-27T14:24:04.261" v="32" actId="1076"/>
          <ac:picMkLst>
            <pc:docMk/>
            <pc:sldMk cId="1323361835" sldId="264"/>
            <ac:picMk id="11" creationId="{C0AB3329-AF81-3B0D-099E-BA5ABE14435A}"/>
          </ac:picMkLst>
        </pc:picChg>
      </pc:sldChg>
      <pc:sldChg chg="modSp mod">
        <pc:chgData name="Bry 23" userId="c4862c69ed81f0c6" providerId="LiveId" clId="{82814BDE-9628-4F48-B5C7-FAECB8EE5E35}" dt="2026-05-27T14:27:20.557" v="67" actId="2711"/>
        <pc:sldMkLst>
          <pc:docMk/>
          <pc:sldMk cId="1170742166" sldId="269"/>
        </pc:sldMkLst>
        <pc:spChg chg="mod">
          <ac:chgData name="Bry 23" userId="c4862c69ed81f0c6" providerId="LiveId" clId="{82814BDE-9628-4F48-B5C7-FAECB8EE5E35}" dt="2026-05-27T14:27:15.981" v="66" actId="2711"/>
          <ac:spMkLst>
            <pc:docMk/>
            <pc:sldMk cId="1170742166" sldId="269"/>
            <ac:spMk id="11" creationId="{EE04DB7C-B6A6-2B56-738F-96CD4AA80C35}"/>
          </ac:spMkLst>
        </pc:spChg>
        <pc:spChg chg="mod">
          <ac:chgData name="Bry 23" userId="c4862c69ed81f0c6" providerId="LiveId" clId="{82814BDE-9628-4F48-B5C7-FAECB8EE5E35}" dt="2026-05-27T14:27:20.557" v="67" actId="2711"/>
          <ac:spMkLst>
            <pc:docMk/>
            <pc:sldMk cId="1170742166" sldId="269"/>
            <ac:spMk id="13" creationId="{C87941C5-C8D9-1570-A9BF-22308183124F}"/>
          </ac:spMkLst>
        </pc:spChg>
        <pc:picChg chg="mod">
          <ac:chgData name="Bry 23" userId="c4862c69ed81f0c6" providerId="LiveId" clId="{82814BDE-9628-4F48-B5C7-FAECB8EE5E35}" dt="2026-05-27T14:22:59.259" v="25" actId="1076"/>
          <ac:picMkLst>
            <pc:docMk/>
            <pc:sldMk cId="1170742166" sldId="269"/>
            <ac:picMk id="4" creationId="{34521521-56C0-70C8-4C97-557BF83700A2}"/>
          </ac:picMkLst>
        </pc:picChg>
        <pc:picChg chg="mod">
          <ac:chgData name="Bry 23" userId="c4862c69ed81f0c6" providerId="LiveId" clId="{82814BDE-9628-4F48-B5C7-FAECB8EE5E35}" dt="2026-05-27T14:17:56.048" v="3" actId="14826"/>
          <ac:picMkLst>
            <pc:docMk/>
            <pc:sldMk cId="1170742166" sldId="269"/>
            <ac:picMk id="10" creationId="{CE93B1DC-EE48-7A59-DD18-72120028E254}"/>
          </ac:picMkLst>
        </pc:picChg>
      </pc:sldChg>
      <pc:sldChg chg="delSp modSp mod">
        <pc:chgData name="Bry 23" userId="c4862c69ed81f0c6" providerId="LiveId" clId="{82814BDE-9628-4F48-B5C7-FAECB8EE5E35}" dt="2026-05-27T14:27:50.458" v="72" actId="2711"/>
        <pc:sldMkLst>
          <pc:docMk/>
          <pc:sldMk cId="3051022583" sldId="270"/>
        </pc:sldMkLst>
        <pc:spChg chg="del">
          <ac:chgData name="Bry 23" userId="c4862c69ed81f0c6" providerId="LiveId" clId="{82814BDE-9628-4F48-B5C7-FAECB8EE5E35}" dt="2026-05-27T14:20:06.697" v="8" actId="21"/>
          <ac:spMkLst>
            <pc:docMk/>
            <pc:sldMk cId="3051022583" sldId="270"/>
            <ac:spMk id="13" creationId="{A76E4CBB-2DB7-38F0-DC71-09787C197428}"/>
          </ac:spMkLst>
        </pc:spChg>
        <pc:spChg chg="mod">
          <ac:chgData name="Bry 23" userId="c4862c69ed81f0c6" providerId="LiveId" clId="{82814BDE-9628-4F48-B5C7-FAECB8EE5E35}" dt="2026-05-27T14:27:50.458" v="72" actId="2711"/>
          <ac:spMkLst>
            <pc:docMk/>
            <pc:sldMk cId="3051022583" sldId="270"/>
            <ac:spMk id="15" creationId="{90FB2CC6-B5CF-2F2F-3DA8-43E2D33975F4}"/>
          </ac:spMkLst>
        </pc:spChg>
        <pc:picChg chg="mod">
          <ac:chgData name="Bry 23" userId="c4862c69ed81f0c6" providerId="LiveId" clId="{82814BDE-9628-4F48-B5C7-FAECB8EE5E35}" dt="2026-05-27T14:20:10.430" v="9" actId="1076"/>
          <ac:picMkLst>
            <pc:docMk/>
            <pc:sldMk cId="3051022583" sldId="270"/>
            <ac:picMk id="3" creationId="{0D937ACB-48BE-1C4D-AF5D-4960B6A6A57F}"/>
          </ac:picMkLst>
        </pc:picChg>
        <pc:picChg chg="del">
          <ac:chgData name="Bry 23" userId="c4862c69ed81f0c6" providerId="LiveId" clId="{82814BDE-9628-4F48-B5C7-FAECB8EE5E35}" dt="2026-05-27T14:19:58.677" v="7" actId="21"/>
          <ac:picMkLst>
            <pc:docMk/>
            <pc:sldMk cId="3051022583" sldId="270"/>
            <ac:picMk id="11" creationId="{E5A63C02-3221-9C2C-C6B7-CD78F04DC810}"/>
          </ac:picMkLst>
        </pc:picChg>
      </pc:sldChg>
      <pc:sldChg chg="del">
        <pc:chgData name="Bry 23" userId="c4862c69ed81f0c6" providerId="LiveId" clId="{82814BDE-9628-4F48-B5C7-FAECB8EE5E35}" dt="2026-05-27T14:20:21.310" v="11" actId="2696"/>
        <pc:sldMkLst>
          <pc:docMk/>
          <pc:sldMk cId="3173469723" sldId="27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6D39CF-F4D5-432B-8863-3BE81A2AF4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7F427C-01D3-4577-B4FE-6702B67A54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FBE86CF3-4272-448E-BAC2-57863C7BED56}" type="datetimeFigureOut">
              <a:rPr lang="en-PH" smtClean="0"/>
              <a:t>5/27/2026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34817C-55CA-47D1-A5FB-9490F9D14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97585-2C90-4D32-B769-0748F2D03F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1938290E-365B-478C-A97B-CD9B8D7C77C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297697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70755-587E-47DA-92FF-F00102A0B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9C411E-25A5-4F45-8CCC-9D961DD955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F6A4F-F284-4BF9-BD49-F1E17B2A7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8821-5B80-49DE-83C9-AB4B8D8DA84C}" type="datetimeFigureOut">
              <a:rPr lang="en-PH" smtClean="0"/>
              <a:t>5/27/2026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3FA87-D136-4671-8AE2-1D76C20D9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99822-A441-48FB-B060-E67BCB531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EF2A-096D-4C65-8628-79D8105BAF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3545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E540B-DB02-423F-B752-764F38E25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56B4C-4C83-4958-A38B-F3A66FB64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B1999-C821-4819-A3FD-AA8661A13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8821-5B80-49DE-83C9-AB4B8D8DA84C}" type="datetimeFigureOut">
              <a:rPr lang="en-PH" smtClean="0"/>
              <a:t>5/27/2026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2EFAD-FD0F-469E-B1D5-1D56177B4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1A6CE-4B7D-463A-A8BD-AA8F7482D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EF2A-096D-4C65-8628-79D8105BAF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98784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118BC-5E60-4358-9A33-8F58FA62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685BE-004D-4A39-89EB-BFB604A8B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4CB77-DDF5-4166-92C6-E9ECE9588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8821-5B80-49DE-83C9-AB4B8D8DA84C}" type="datetimeFigureOut">
              <a:rPr lang="en-PH" smtClean="0"/>
              <a:t>5/27/2026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CB714-E9BA-4D5A-85AB-60FB201CE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4C078-A3E9-4392-8524-1E982A2E1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EF2A-096D-4C65-8628-79D8105BAF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5589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D6C7C-768E-450C-9248-054CE6F3A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1B300-01A6-4D09-9C94-EDDEA9D64D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F3D27E-3F69-4127-B8F7-FAC644713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89022-5EB8-4588-8596-CDCA99467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8821-5B80-49DE-83C9-AB4B8D8DA84C}" type="datetimeFigureOut">
              <a:rPr lang="en-PH" smtClean="0"/>
              <a:t>5/27/2026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AC4A74-818A-4137-AC45-21B41B5D9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7CE09-F974-4F9D-88E6-3D7920906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EF2A-096D-4C65-8628-79D8105BAF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97579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F53D3-AD80-4DDE-951D-128ADA902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27A65-376A-4A63-B09B-7B370DD6B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3F9241-01C1-4D54-AFA3-1AFCEE9A5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B601AA-2DB3-4A57-8327-5E7950EEC0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79D78D-5F3E-49DC-95DE-7DF0D2EA31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FF94E3-BD23-4B5C-9ABB-3FA8A4A96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8821-5B80-49DE-83C9-AB4B8D8DA84C}" type="datetimeFigureOut">
              <a:rPr lang="en-PH" smtClean="0"/>
              <a:t>5/27/2026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6A83CE-C7C1-4639-95D2-477C95B65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6F0CF6-7073-4154-B0CF-3E49F9E09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EF2A-096D-4C65-8628-79D8105BAF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20399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FFD46-99F0-4D75-A724-9AA3E05A3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024B3B-A3C9-4F21-A26F-D893BB365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8821-5B80-49DE-83C9-AB4B8D8DA84C}" type="datetimeFigureOut">
              <a:rPr lang="en-PH" smtClean="0"/>
              <a:t>5/27/2026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FB8E23-7F6A-43C0-A4D5-311246A9E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1B4A42-7544-43B6-AC30-2E16C4647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EF2A-096D-4C65-8628-79D8105BAF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61446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1F2B56-9FE7-4F4D-A9AB-96D1C4865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8821-5B80-49DE-83C9-AB4B8D8DA84C}" type="datetimeFigureOut">
              <a:rPr lang="en-PH" smtClean="0"/>
              <a:t>5/27/2026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CBC8A1-555F-4224-AC7E-CD1A12C85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4D841-7016-4B86-BF78-D3FD2B172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EF2A-096D-4C65-8628-79D8105BAF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19363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A2502-8F86-4C85-9748-44E8E1806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99875-3E7F-47D7-944B-03A7F5A55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ED6588-0EA3-4A1A-8DAE-7B83257681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3DAA8-44A5-4707-8AE0-81D5F4A1E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8821-5B80-49DE-83C9-AB4B8D8DA84C}" type="datetimeFigureOut">
              <a:rPr lang="en-PH" smtClean="0"/>
              <a:t>5/27/2026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E9885-2FEA-43D8-AEFD-5CDE1A3C1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057BB-0A7C-463C-A0BF-B368E8943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EF2A-096D-4C65-8628-79D8105BAF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15945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AA7B9-B1C2-4F1F-8737-1A77B712F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C0D43-DDC3-4D9B-A0E5-D804F2602B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D2C059-C767-4C21-8455-357BCBA5C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FA01A-BB09-467D-B813-6F9D2F52A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8821-5B80-49DE-83C9-AB4B8D8DA84C}" type="datetimeFigureOut">
              <a:rPr lang="en-PH" smtClean="0"/>
              <a:t>5/27/2026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6AB7F-A079-47C9-B834-8D369BB11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60DDB2-A5D9-4289-9B09-5C56C4889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EF2A-096D-4C65-8628-79D8105BAF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56054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9F082-5870-4FD3-A44E-C418C9B79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845883-C61D-46B2-844D-14383CE47D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34735-51F1-49B6-8A99-9D31B40A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8821-5B80-49DE-83C9-AB4B8D8DA84C}" type="datetimeFigureOut">
              <a:rPr lang="en-PH" smtClean="0"/>
              <a:t>5/27/2026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1E732-A263-4A2C-A8C7-1B8AB66A3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3BB54-8CFA-49E4-9007-2C8745565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EF2A-096D-4C65-8628-79D8105BAF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8815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0327B3-7056-4345-B61A-CE23D19533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09B209-22CA-4FE6-AC42-60BCFC268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289D2-398B-4F3D-A510-04B62EEA2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8821-5B80-49DE-83C9-AB4B8D8DA84C}" type="datetimeFigureOut">
              <a:rPr lang="en-PH" smtClean="0"/>
              <a:t>5/27/2026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05E38-7121-4EA9-BB5B-F44D829E7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33936-53EE-4F05-94D7-E85379A7C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EF2A-096D-4C65-8628-79D8105BAF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02036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3054C4-85AC-4BBF-A12D-3E96C7F72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523D8-43C1-41DC-86FD-B11F95C81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93823-1649-4DC5-B897-A7F1322E57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18821-5B80-49DE-83C9-AB4B8D8DA84C}" type="datetimeFigureOut">
              <a:rPr lang="en-PH" smtClean="0"/>
              <a:t>5/27/2026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93376-6E35-49F3-871B-59B4F15311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AF157-0BBA-4E0F-B2EB-8F806E71C7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0EF2A-096D-4C65-8628-79D8105BAF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0997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719DFEE-3698-423B-8D70-61A39DDE9D74}"/>
              </a:ext>
            </a:extLst>
          </p:cNvPr>
          <p:cNvSpPr txBox="1"/>
          <p:nvPr/>
        </p:nvSpPr>
        <p:spPr>
          <a:xfrm>
            <a:off x="1851297" y="1258349"/>
            <a:ext cx="9884229" cy="212365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400" b="1" dirty="0"/>
              <a:t>REAL-TIME ARNIS TECHNIQUE EVALUATION USING POSE ESTIMATION FOR POSTURE CORRECTION</a:t>
            </a:r>
            <a:endParaRPr lang="en-PH" sz="4400" b="1" dirty="0">
              <a:solidFill>
                <a:srgbClr val="1D3784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1A6A98-3614-479D-B0F0-4CF2915C03E2}"/>
              </a:ext>
            </a:extLst>
          </p:cNvPr>
          <p:cNvSpPr txBox="1"/>
          <p:nvPr/>
        </p:nvSpPr>
        <p:spPr>
          <a:xfrm>
            <a:off x="1851297" y="4317902"/>
            <a:ext cx="4740003" cy="206210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PH" b="1" dirty="0">
                <a:solidFill>
                  <a:srgbClr val="1D3784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JBS</a:t>
            </a:r>
            <a:endParaRPr lang="en-PH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PH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James Bryan B. Tolentino</a:t>
            </a:r>
          </a:p>
          <a:p>
            <a:r>
              <a:rPr lang="en-PH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Shane A. Florentino</a:t>
            </a:r>
          </a:p>
          <a:p>
            <a:r>
              <a:rPr lang="en-PH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Jericho I. Peregrina</a:t>
            </a:r>
          </a:p>
          <a:p>
            <a:r>
              <a:rPr lang="en-PH" sz="1400" dirty="0">
                <a:latin typeface="Century Gothic" panose="020B0502020202020204" pitchFamily="34" charset="0"/>
                <a:cs typeface="Arial" panose="020B0604020202020204" pitchFamily="34" charset="0"/>
              </a:rPr>
              <a:t>BSCS 3-IS</a:t>
            </a:r>
          </a:p>
          <a:p>
            <a:r>
              <a:rPr lang="en-PH" sz="1400" dirty="0">
                <a:latin typeface="Century Gothic" panose="020B0502020202020204" pitchFamily="34" charset="0"/>
                <a:cs typeface="Arial" panose="020B0604020202020204" pitchFamily="34" charset="0"/>
              </a:rPr>
              <a:t>CCS</a:t>
            </a:r>
          </a:p>
          <a:p>
            <a:r>
              <a:rPr lang="en-PH" sz="1400" dirty="0">
                <a:latin typeface="Century Gothic" panose="020B0502020202020204" pitchFamily="34" charset="0"/>
                <a:cs typeface="Arial" panose="020B0604020202020204" pitchFamily="34" charset="0"/>
              </a:rPr>
              <a:t>Laguna State Polytechnic University</a:t>
            </a:r>
          </a:p>
          <a:p>
            <a:r>
              <a:rPr lang="en-PH" sz="1400" dirty="0" err="1">
                <a:latin typeface="Century Gothic" panose="020B0502020202020204" pitchFamily="34" charset="0"/>
                <a:cs typeface="Arial" panose="020B0604020202020204" pitchFamily="34" charset="0"/>
              </a:rPr>
              <a:t>Siniloan</a:t>
            </a:r>
            <a:endParaRPr lang="en-PH" sz="1400" dirty="0"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1584B94-B78B-43AD-A66B-F4910E518B90}"/>
              </a:ext>
            </a:extLst>
          </p:cNvPr>
          <p:cNvSpPr/>
          <p:nvPr/>
        </p:nvSpPr>
        <p:spPr>
          <a:xfrm>
            <a:off x="-2336800" y="1046270"/>
            <a:ext cx="2167432" cy="1792941"/>
          </a:xfrm>
          <a:prstGeom prst="rightArrow">
            <a:avLst>
              <a:gd name="adj1" fmla="val 78000"/>
              <a:gd name="adj2" fmla="val 2202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b="1" dirty="0">
                <a:solidFill>
                  <a:schemeClr val="bg1"/>
                </a:solidFill>
              </a:rPr>
              <a:t>When applicable, </a:t>
            </a:r>
          </a:p>
          <a:p>
            <a:pPr algn="r"/>
            <a:r>
              <a:rPr lang="en-PH" b="1" dirty="0">
                <a:solidFill>
                  <a:schemeClr val="bg1"/>
                </a:solidFill>
              </a:rPr>
              <a:t>add seal(s) below </a:t>
            </a:r>
          </a:p>
          <a:p>
            <a:pPr algn="r"/>
            <a:r>
              <a:rPr lang="en-PH" b="1" dirty="0">
                <a:solidFill>
                  <a:schemeClr val="bg1"/>
                </a:solidFill>
              </a:rPr>
              <a:t>the LSPU seal.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F604FB5-4E28-4D2D-913E-28D0DE78C266}"/>
              </a:ext>
            </a:extLst>
          </p:cNvPr>
          <p:cNvSpPr/>
          <p:nvPr/>
        </p:nvSpPr>
        <p:spPr>
          <a:xfrm flipH="1">
            <a:off x="12392525" y="1692346"/>
            <a:ext cx="2167431" cy="1792941"/>
          </a:xfrm>
          <a:prstGeom prst="rightArrow">
            <a:avLst>
              <a:gd name="adj1" fmla="val 78000"/>
              <a:gd name="adj2" fmla="val 2202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b="1" dirty="0">
                <a:solidFill>
                  <a:schemeClr val="bg1"/>
                </a:solidFill>
              </a:rPr>
              <a:t>Font size may be adjusted as needed.</a:t>
            </a:r>
          </a:p>
        </p:txBody>
      </p:sp>
    </p:spTree>
    <p:extLst>
      <p:ext uri="{BB962C8B-B14F-4D97-AF65-F5344CB8AC3E}">
        <p14:creationId xmlns:p14="http://schemas.microsoft.com/office/powerpoint/2010/main" val="762793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A1FEEF-2AFA-C605-727E-36DC61B41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DFC7AF-DDFE-9873-FB6A-3701684A16D3}"/>
              </a:ext>
            </a:extLst>
          </p:cNvPr>
          <p:cNvSpPr txBox="1"/>
          <p:nvPr/>
        </p:nvSpPr>
        <p:spPr>
          <a:xfrm>
            <a:off x="2602530" y="188396"/>
            <a:ext cx="6986938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PH" sz="4400" b="1" dirty="0">
                <a:latin typeface="Century Gothic" panose="020B0502020202020204" pitchFamily="34" charset="0"/>
              </a:rPr>
              <a:t>Background of the Study</a:t>
            </a:r>
            <a:endParaRPr lang="en-PH" sz="4400" b="1" dirty="0">
              <a:solidFill>
                <a:srgbClr val="1D3784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5A3846-2F64-247D-2E9D-B8B05E6D05ED}"/>
              </a:ext>
            </a:extLst>
          </p:cNvPr>
          <p:cNvSpPr txBox="1"/>
          <p:nvPr/>
        </p:nvSpPr>
        <p:spPr>
          <a:xfrm>
            <a:off x="470516" y="1367761"/>
            <a:ext cx="11620870" cy="56938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Human pose estimation is widely used in: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/>
              <a:t>      	Sports, healthcare, and training systems</a:t>
            </a:r>
            <a:endParaRPr lang="en-PH" sz="2800" dirty="0">
              <a:cs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Deep learning enables algorithms like </a:t>
            </a:r>
            <a:r>
              <a:rPr lang="en-US" altLang="en-US" sz="2800" dirty="0" err="1"/>
              <a:t>AlphaPose</a:t>
            </a:r>
            <a:r>
              <a:rPr lang="en-US" altLang="en-US" sz="2800" dirty="0"/>
              <a:t> to: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/>
              <a:t> 	Detect body </a:t>
            </a:r>
            <a:r>
              <a:rPr lang="en-US" altLang="en-US" sz="2800" dirty="0" err="1"/>
              <a:t>keypoints</a:t>
            </a:r>
            <a:r>
              <a:rPr lang="en-US" altLang="en-US" sz="2800" dirty="0"/>
              <a:t>, track movement in real time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Arnis is recognized under Republic Act No. 9850,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Requires: Precise posture, proper striking form, coordinated footwork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Current training: Manual evaluation by instructors, limited continuous monitoring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cs typeface="Arial" panose="020B0604020202020204" pitchFamily="34" charset="0"/>
              </a:rPr>
              <a:t>Existing systems: Require multiple cameras or Kinect &amp; Not practical for everyday use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PH" sz="2800" dirty="0">
                <a:cs typeface="Arial" panose="020B0604020202020204" pitchFamily="34" charset="0"/>
              </a:rPr>
              <a:t>This study proposes a</a:t>
            </a:r>
            <a:r>
              <a:rPr lang="en-US" sz="2800" dirty="0">
                <a:cs typeface="Arial" panose="020B0604020202020204" pitchFamily="34" charset="0"/>
              </a:rPr>
              <a:t> real-time Arnis technique evaluation system using </a:t>
            </a:r>
            <a:r>
              <a:rPr lang="en-US" sz="2800" dirty="0" err="1">
                <a:cs typeface="Arial" panose="020B0604020202020204" pitchFamily="34" charset="0"/>
              </a:rPr>
              <a:t>AlphaPose</a:t>
            </a:r>
            <a:r>
              <a:rPr lang="en-US" sz="2800" dirty="0">
                <a:cs typeface="Arial" panose="020B0604020202020204" pitchFamily="34" charset="0"/>
              </a:rPr>
              <a:t>.</a:t>
            </a:r>
            <a:endParaRPr lang="en-US" altLang="en-US" sz="2800" dirty="0"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PH" sz="2800" dirty="0">
              <a:cs typeface="Arial" panose="020B0604020202020204" pitchFamily="34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D7E0B18B-38A2-9673-AE48-D19402C67778}"/>
              </a:ext>
            </a:extLst>
          </p:cNvPr>
          <p:cNvSpPr/>
          <p:nvPr/>
        </p:nvSpPr>
        <p:spPr>
          <a:xfrm>
            <a:off x="-2505242" y="2718660"/>
            <a:ext cx="2167432" cy="1792941"/>
          </a:xfrm>
          <a:prstGeom prst="rightArrow">
            <a:avLst>
              <a:gd name="adj1" fmla="val 78000"/>
              <a:gd name="adj2" fmla="val 2202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b="1" dirty="0">
                <a:solidFill>
                  <a:schemeClr val="bg1"/>
                </a:solidFill>
              </a:rPr>
              <a:t>For contents, bullets may be changed into paragraph form.</a:t>
            </a:r>
          </a:p>
        </p:txBody>
      </p:sp>
    </p:spTree>
    <p:extLst>
      <p:ext uri="{BB962C8B-B14F-4D97-AF65-F5344CB8AC3E}">
        <p14:creationId xmlns:p14="http://schemas.microsoft.com/office/powerpoint/2010/main" val="3359524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554073-784A-4164-84DE-A1C233636223}"/>
              </a:ext>
            </a:extLst>
          </p:cNvPr>
          <p:cNvSpPr txBox="1"/>
          <p:nvPr/>
        </p:nvSpPr>
        <p:spPr>
          <a:xfrm>
            <a:off x="1153884" y="330440"/>
            <a:ext cx="9884229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PH" sz="4400" b="1" dirty="0">
                <a:latin typeface="Century Gothic" panose="020B0502020202020204" pitchFamily="34" charset="0"/>
              </a:rPr>
              <a:t>Objectives</a:t>
            </a:r>
            <a:endParaRPr lang="en-PH" sz="4400" b="1" dirty="0">
              <a:solidFill>
                <a:srgbClr val="1D3784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16791B-93B4-4BBA-B383-006C575C2D3D}"/>
              </a:ext>
            </a:extLst>
          </p:cNvPr>
          <p:cNvSpPr txBox="1"/>
          <p:nvPr/>
        </p:nvSpPr>
        <p:spPr>
          <a:xfrm>
            <a:off x="435006" y="1314872"/>
            <a:ext cx="11638625" cy="65556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/>
              <a:t>The main objective of this study is to develop a real-time Arnis technique evaluation system using </a:t>
            </a:r>
            <a:r>
              <a:rPr lang="en-US" sz="2800" dirty="0" err="1"/>
              <a:t>AlphaPose</a:t>
            </a:r>
            <a:r>
              <a:rPr lang="en-US" sz="2800" dirty="0"/>
              <a:t> for posture correction, which captures user movements through a mobile camera and provides immediate feedback when incorrect posture is detected.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 dirty="0"/>
          </a:p>
          <a:p>
            <a:pPr algn="just"/>
            <a:r>
              <a:rPr lang="en-US" sz="2800" dirty="0"/>
              <a:t>Specifically, this study aims to achieve the following:</a:t>
            </a:r>
          </a:p>
          <a:p>
            <a:pPr marL="514350" indent="-514350" algn="just">
              <a:buAutoNum type="arabicPeriod"/>
            </a:pPr>
            <a:r>
              <a:rPr lang="en-US" sz="2800" dirty="0"/>
              <a:t>To develop a functioning system for real-time Arnis technique evaluation:</a:t>
            </a:r>
          </a:p>
          <a:p>
            <a:pPr algn="just"/>
            <a:r>
              <a:rPr lang="en-US" sz="2800" dirty="0"/>
              <a:t>	1.1 Design and create a mobile-based interface for capturing user 	movements</a:t>
            </a:r>
          </a:p>
          <a:p>
            <a:pPr algn="just"/>
            <a:r>
              <a:rPr lang="en-US" sz="2800" dirty="0"/>
              <a:t>	1.2 Implement real-time video input using a mobile camera</a:t>
            </a:r>
          </a:p>
          <a:p>
            <a:pPr algn="just"/>
            <a:r>
              <a:rPr lang="en-US" sz="2800" dirty="0"/>
              <a:t>	1.3 Develop a posture feedback module that provides warning messages 	for incorrect techniques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PH" sz="2800" dirty="0"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PH" sz="2800" dirty="0">
              <a:cs typeface="Arial" panose="020B0604020202020204" pitchFamily="34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ACC5DF2-71F8-461C-90A8-C421F15A1D8C}"/>
              </a:ext>
            </a:extLst>
          </p:cNvPr>
          <p:cNvSpPr/>
          <p:nvPr/>
        </p:nvSpPr>
        <p:spPr>
          <a:xfrm>
            <a:off x="-2505242" y="2718660"/>
            <a:ext cx="2167432" cy="1792941"/>
          </a:xfrm>
          <a:prstGeom prst="rightArrow">
            <a:avLst>
              <a:gd name="adj1" fmla="val 78000"/>
              <a:gd name="adj2" fmla="val 2202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b="1" dirty="0">
                <a:solidFill>
                  <a:schemeClr val="bg1"/>
                </a:solidFill>
              </a:rPr>
              <a:t>For contents, bullets may be changed into paragraph form.</a:t>
            </a:r>
          </a:p>
        </p:txBody>
      </p:sp>
    </p:spTree>
    <p:extLst>
      <p:ext uri="{BB962C8B-B14F-4D97-AF65-F5344CB8AC3E}">
        <p14:creationId xmlns:p14="http://schemas.microsoft.com/office/powerpoint/2010/main" val="1357541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002290-46B3-B086-6451-530913949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0133EE-7D26-CC7B-6F64-AE698B3761F8}"/>
              </a:ext>
            </a:extLst>
          </p:cNvPr>
          <p:cNvSpPr txBox="1"/>
          <p:nvPr/>
        </p:nvSpPr>
        <p:spPr>
          <a:xfrm>
            <a:off x="1153885" y="188397"/>
            <a:ext cx="9884229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PH" sz="4400" b="1" dirty="0">
                <a:latin typeface="Century Gothic" panose="020B0502020202020204" pitchFamily="34" charset="0"/>
              </a:rPr>
              <a:t>Objectives</a:t>
            </a:r>
            <a:endParaRPr lang="en-PH" sz="4400" b="1" dirty="0">
              <a:solidFill>
                <a:srgbClr val="1D3784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CAD792-14CC-2A43-FD23-13313C66A541}"/>
              </a:ext>
            </a:extLst>
          </p:cNvPr>
          <p:cNvSpPr txBox="1"/>
          <p:nvPr/>
        </p:nvSpPr>
        <p:spPr>
          <a:xfrm>
            <a:off x="443884" y="1099881"/>
            <a:ext cx="11638625" cy="74174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800" dirty="0"/>
              <a:t>2.To implement a pose estimation algorithm using </a:t>
            </a:r>
            <a:r>
              <a:rPr lang="en-US" sz="2800" dirty="0" err="1"/>
              <a:t>AlphaPose</a:t>
            </a:r>
            <a:r>
              <a:rPr lang="en-US" sz="2800" dirty="0"/>
              <a:t>: 	</a:t>
            </a:r>
          </a:p>
          <a:p>
            <a:r>
              <a:rPr lang="en-US" sz="2800" dirty="0"/>
              <a:t>	2.1 Detect human body </a:t>
            </a:r>
            <a:r>
              <a:rPr lang="en-US" sz="2800" dirty="0" err="1"/>
              <a:t>keypoints</a:t>
            </a:r>
            <a:r>
              <a:rPr lang="en-US" sz="2800" dirty="0"/>
              <a:t> from real-time video input</a:t>
            </a:r>
          </a:p>
          <a:p>
            <a:r>
              <a:rPr lang="en-US" sz="2800" dirty="0"/>
              <a:t>	2.2 Process and track body movements during Arnis striking and 	footwork</a:t>
            </a:r>
          </a:p>
          <a:p>
            <a:r>
              <a:rPr lang="en-US" sz="2800" dirty="0"/>
              <a:t>3. To extract and analyze posture features by identifying proper and improper 	posture based on predefined Arnis techniques.</a:t>
            </a:r>
          </a:p>
          <a:p>
            <a:r>
              <a:rPr lang="en-US" sz="2800" dirty="0"/>
              <a:t>4. To validate the system outputs using pose estimation performance metrics:</a:t>
            </a:r>
          </a:p>
          <a:p>
            <a:r>
              <a:rPr lang="en-US" sz="2800" dirty="0"/>
              <a:t>	4.1 Evaluate </a:t>
            </a:r>
            <a:r>
              <a:rPr lang="en-US" sz="2800" dirty="0" err="1"/>
              <a:t>keypoint</a:t>
            </a:r>
            <a:r>
              <a:rPr lang="en-US" sz="2800" dirty="0"/>
              <a:t> detection accuracy using Percentage of Correct 	</a:t>
            </a:r>
            <a:r>
              <a:rPr lang="en-US" sz="2800" dirty="0" err="1"/>
              <a:t>Keypoints</a:t>
            </a:r>
            <a:r>
              <a:rPr lang="en-US" sz="2800" dirty="0"/>
              <a:t> (PCK).</a:t>
            </a:r>
          </a:p>
          <a:p>
            <a:r>
              <a:rPr lang="en-US" sz="2800" dirty="0"/>
              <a:t>	4.2 Measure pose estimation error using Mean Per Joint Position Error 	(MPJPE).</a:t>
            </a:r>
          </a:p>
          <a:p>
            <a:r>
              <a:rPr lang="en-US" sz="2800" dirty="0"/>
              <a:t>	4.3 Assess detection quality using Object </a:t>
            </a:r>
            <a:r>
              <a:rPr lang="en-US" sz="2800" dirty="0" err="1"/>
              <a:t>Keypoint</a:t>
            </a:r>
            <a:r>
              <a:rPr lang="en-US" sz="2800" dirty="0"/>
              <a:t> Similarity (OKS).</a:t>
            </a:r>
          </a:p>
          <a:p>
            <a:r>
              <a:rPr lang="en-US" sz="2800" dirty="0"/>
              <a:t>5. To evaluate system usability using the System Usability Scale (SUS).</a:t>
            </a:r>
          </a:p>
          <a:p>
            <a:pPr algn="just"/>
            <a:endParaRPr lang="en-US" sz="28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PH" sz="2800" dirty="0"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PH" sz="2800" dirty="0">
              <a:cs typeface="Arial" panose="020B0604020202020204" pitchFamily="34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75179C1D-22C3-550C-AC5A-0208C9DCF1BB}"/>
              </a:ext>
            </a:extLst>
          </p:cNvPr>
          <p:cNvSpPr/>
          <p:nvPr/>
        </p:nvSpPr>
        <p:spPr>
          <a:xfrm>
            <a:off x="-2505242" y="2718660"/>
            <a:ext cx="2167432" cy="1792941"/>
          </a:xfrm>
          <a:prstGeom prst="rightArrow">
            <a:avLst>
              <a:gd name="adj1" fmla="val 78000"/>
              <a:gd name="adj2" fmla="val 2202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b="1" dirty="0">
                <a:solidFill>
                  <a:schemeClr val="bg1"/>
                </a:solidFill>
              </a:rPr>
              <a:t>For contents, bullets may be changed into paragraph form.</a:t>
            </a:r>
          </a:p>
        </p:txBody>
      </p:sp>
    </p:spTree>
    <p:extLst>
      <p:ext uri="{BB962C8B-B14F-4D97-AF65-F5344CB8AC3E}">
        <p14:creationId xmlns:p14="http://schemas.microsoft.com/office/powerpoint/2010/main" val="754732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1A4524-0AD6-1DD1-11A8-9F86407E8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161D3B-A949-1262-0B57-E540F377DDE1}"/>
              </a:ext>
            </a:extLst>
          </p:cNvPr>
          <p:cNvSpPr txBox="1"/>
          <p:nvPr/>
        </p:nvSpPr>
        <p:spPr>
          <a:xfrm>
            <a:off x="1153885" y="1085042"/>
            <a:ext cx="9884229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PH" sz="4400" b="1">
                <a:latin typeface="Century Gothic" panose="020B0502020202020204" pitchFamily="34" charset="0"/>
              </a:rPr>
              <a:t>Significance </a:t>
            </a:r>
            <a:r>
              <a:rPr lang="en-PH" sz="4400" b="1" dirty="0">
                <a:latin typeface="Century Gothic" panose="020B0502020202020204" pitchFamily="34" charset="0"/>
              </a:rPr>
              <a:t>of the Study</a:t>
            </a:r>
            <a:endParaRPr lang="en-PH" sz="4400" b="1" dirty="0">
              <a:solidFill>
                <a:srgbClr val="1D3784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4630E0-3C0E-7EE4-F1C8-D74CDD24AE41}"/>
              </a:ext>
            </a:extLst>
          </p:cNvPr>
          <p:cNvSpPr txBox="1"/>
          <p:nvPr/>
        </p:nvSpPr>
        <p:spPr>
          <a:xfrm>
            <a:off x="1153885" y="2397948"/>
            <a:ext cx="9884229" cy="26776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Helps improve Arnis training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Provides real-time feedback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Reduces risk of injury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Supports accessible AI-based training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PH" sz="2800" dirty="0"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PH" sz="2800" dirty="0">
              <a:cs typeface="Arial" panose="020B0604020202020204" pitchFamily="34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9C0AB918-9E81-D32E-8A41-E1DC73A95627}"/>
              </a:ext>
            </a:extLst>
          </p:cNvPr>
          <p:cNvSpPr/>
          <p:nvPr/>
        </p:nvSpPr>
        <p:spPr>
          <a:xfrm>
            <a:off x="-2505242" y="2718660"/>
            <a:ext cx="2167432" cy="1792941"/>
          </a:xfrm>
          <a:prstGeom prst="rightArrow">
            <a:avLst>
              <a:gd name="adj1" fmla="val 78000"/>
              <a:gd name="adj2" fmla="val 2202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b="1" dirty="0">
                <a:solidFill>
                  <a:schemeClr val="bg1"/>
                </a:solidFill>
              </a:rPr>
              <a:t>For contents, bullets may be changed into paragraph form.</a:t>
            </a:r>
          </a:p>
        </p:txBody>
      </p:sp>
    </p:spTree>
    <p:extLst>
      <p:ext uri="{BB962C8B-B14F-4D97-AF65-F5344CB8AC3E}">
        <p14:creationId xmlns:p14="http://schemas.microsoft.com/office/powerpoint/2010/main" val="1659335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1A4524-0AD6-1DD1-11A8-9F86407E8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161D3B-A949-1262-0B57-E540F377DDE1}"/>
              </a:ext>
            </a:extLst>
          </p:cNvPr>
          <p:cNvSpPr txBox="1"/>
          <p:nvPr/>
        </p:nvSpPr>
        <p:spPr>
          <a:xfrm>
            <a:off x="1153885" y="352236"/>
            <a:ext cx="9884229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PH" sz="4400" b="1" dirty="0">
                <a:latin typeface="Century Gothic" panose="020B0502020202020204" pitchFamily="34" charset="0"/>
              </a:rPr>
              <a:t>Technology Gap</a:t>
            </a:r>
            <a:endParaRPr lang="en-PH" sz="4400" b="1" dirty="0">
              <a:solidFill>
                <a:srgbClr val="1D3784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4630E0-3C0E-7EE4-F1C8-D74CDD24AE41}"/>
              </a:ext>
            </a:extLst>
          </p:cNvPr>
          <p:cNvSpPr txBox="1"/>
          <p:nvPr/>
        </p:nvSpPr>
        <p:spPr>
          <a:xfrm>
            <a:off x="1153885" y="1312744"/>
            <a:ext cx="11038115" cy="61247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Most existing studies focus on general posture correction, fitness tracking, or medical applications.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Some systems require special hardware (e.g., Kinect or multiple cameras), making them less practical and accessible.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Existing pose estimation systems like </a:t>
            </a:r>
            <a:r>
              <a:rPr lang="en-US" sz="2800" dirty="0" err="1"/>
              <a:t>AlphaPose</a:t>
            </a:r>
            <a:r>
              <a:rPr lang="en-US" sz="2800" dirty="0"/>
              <a:t> are mainly designed for activities such as running or yoga, not martial arts.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Many current systems lack:</a:t>
            </a:r>
          </a:p>
          <a:p>
            <a:r>
              <a:rPr lang="en-US" sz="2800" dirty="0"/>
              <a:t>                      real-time feedback,</a:t>
            </a:r>
          </a:p>
          <a:p>
            <a:r>
              <a:rPr lang="en-US" sz="2800" dirty="0"/>
              <a:t>                      sport-specific evaluation, and</a:t>
            </a:r>
          </a:p>
          <a:p>
            <a:r>
              <a:rPr lang="en-US" sz="2800" dirty="0"/>
              <a:t>                      mobile-based implementation.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There is limited research on using pose estimation for </a:t>
            </a:r>
            <a:r>
              <a:rPr lang="en-US" sz="2800" dirty="0" err="1"/>
              <a:t>Arnis</a:t>
            </a:r>
            <a:r>
              <a:rPr lang="en-US" sz="2800" dirty="0"/>
              <a:t> techniques, particularly for correcting striking and footwork movements.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PH" sz="2800" dirty="0"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PH" sz="2800" dirty="0">
              <a:cs typeface="Arial" panose="020B0604020202020204" pitchFamily="34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9C0AB918-9E81-D32E-8A41-E1DC73A95627}"/>
              </a:ext>
            </a:extLst>
          </p:cNvPr>
          <p:cNvSpPr/>
          <p:nvPr/>
        </p:nvSpPr>
        <p:spPr>
          <a:xfrm>
            <a:off x="-2505242" y="2718660"/>
            <a:ext cx="2167432" cy="1792941"/>
          </a:xfrm>
          <a:prstGeom prst="rightArrow">
            <a:avLst>
              <a:gd name="adj1" fmla="val 78000"/>
              <a:gd name="adj2" fmla="val 2202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b="1" dirty="0">
                <a:solidFill>
                  <a:schemeClr val="bg1"/>
                </a:solidFill>
              </a:rPr>
              <a:t>For contents, bullets may be changed into paragraph form.</a:t>
            </a:r>
          </a:p>
        </p:txBody>
      </p:sp>
    </p:spTree>
    <p:extLst>
      <p:ext uri="{BB962C8B-B14F-4D97-AF65-F5344CB8AC3E}">
        <p14:creationId xmlns:p14="http://schemas.microsoft.com/office/powerpoint/2010/main" val="3815348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CCE9CB-DE5E-4C6E-9921-FF111B480523}"/>
              </a:ext>
            </a:extLst>
          </p:cNvPr>
          <p:cNvSpPr/>
          <p:nvPr/>
        </p:nvSpPr>
        <p:spPr>
          <a:xfrm>
            <a:off x="439615" y="606669"/>
            <a:ext cx="11641015" cy="6251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>
                <a:solidFill>
                  <a:schemeClr val="tx1"/>
                </a:solidFill>
              </a:rPr>
              <a:t>INSERT IMAGE HERE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3F56D76-BAEB-4D40-80D1-7A5D2CADBB3A}"/>
              </a:ext>
            </a:extLst>
          </p:cNvPr>
          <p:cNvSpPr/>
          <p:nvPr/>
        </p:nvSpPr>
        <p:spPr>
          <a:xfrm flipH="1">
            <a:off x="12632233" y="2658502"/>
            <a:ext cx="2780220" cy="1792941"/>
          </a:xfrm>
          <a:prstGeom prst="rightArrow">
            <a:avLst>
              <a:gd name="adj1" fmla="val 78000"/>
              <a:gd name="adj2" fmla="val 2202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b="1" dirty="0">
                <a:solidFill>
                  <a:schemeClr val="bg1"/>
                </a:solidFill>
              </a:rPr>
              <a:t>For contents, bullets may be changed into paragraph form.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A2C4055-E197-46AD-A938-2ACAAA5279BC}"/>
              </a:ext>
            </a:extLst>
          </p:cNvPr>
          <p:cNvSpPr/>
          <p:nvPr/>
        </p:nvSpPr>
        <p:spPr>
          <a:xfrm>
            <a:off x="-2682823" y="2658502"/>
            <a:ext cx="2167432" cy="1792941"/>
          </a:xfrm>
          <a:prstGeom prst="rightArrow">
            <a:avLst>
              <a:gd name="adj1" fmla="val 78000"/>
              <a:gd name="adj2" fmla="val 2202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b="1" dirty="0">
                <a:solidFill>
                  <a:schemeClr val="bg1"/>
                </a:solidFill>
              </a:rPr>
              <a:t>Sample image size only. </a:t>
            </a:r>
          </a:p>
          <a:p>
            <a:pPr algn="r"/>
            <a:r>
              <a:rPr lang="en-PH" b="1" dirty="0">
                <a:solidFill>
                  <a:schemeClr val="bg1"/>
                </a:solidFill>
              </a:rPr>
              <a:t>May also change as needed. </a:t>
            </a:r>
          </a:p>
        </p:txBody>
      </p:sp>
      <p:pic>
        <p:nvPicPr>
          <p:cNvPr id="3" name="Picture 2" descr="Open photo">
            <a:extLst>
              <a:ext uri="{FF2B5EF4-FFF2-40B4-BE49-F238E27FC236}">
                <a16:creationId xmlns:a16="http://schemas.microsoft.com/office/drawing/2014/main" id="{CC37923C-A102-B6FC-F675-BF00D642C5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615" y="595237"/>
            <a:ext cx="11641015" cy="62513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7226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2EE848-ED90-2223-9BD7-388230021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row: Right 5">
            <a:extLst>
              <a:ext uri="{FF2B5EF4-FFF2-40B4-BE49-F238E27FC236}">
                <a16:creationId xmlns:a16="http://schemas.microsoft.com/office/drawing/2014/main" id="{0D904B91-9642-8B75-FE70-7947F43C1DE9}"/>
              </a:ext>
            </a:extLst>
          </p:cNvPr>
          <p:cNvSpPr/>
          <p:nvPr/>
        </p:nvSpPr>
        <p:spPr>
          <a:xfrm flipH="1">
            <a:off x="12632233" y="2658502"/>
            <a:ext cx="2780220" cy="1792941"/>
          </a:xfrm>
          <a:prstGeom prst="rightArrow">
            <a:avLst>
              <a:gd name="adj1" fmla="val 78000"/>
              <a:gd name="adj2" fmla="val 2202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b="1" dirty="0">
                <a:solidFill>
                  <a:schemeClr val="bg1"/>
                </a:solidFill>
              </a:rPr>
              <a:t>For contents, bullets may be changed into paragraph form.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6FE0184-DD75-D127-5A6D-11041E217DEF}"/>
              </a:ext>
            </a:extLst>
          </p:cNvPr>
          <p:cNvSpPr/>
          <p:nvPr/>
        </p:nvSpPr>
        <p:spPr>
          <a:xfrm>
            <a:off x="-2682823" y="2658502"/>
            <a:ext cx="2167432" cy="1792941"/>
          </a:xfrm>
          <a:prstGeom prst="rightArrow">
            <a:avLst>
              <a:gd name="adj1" fmla="val 78000"/>
              <a:gd name="adj2" fmla="val 2202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b="1" dirty="0">
                <a:solidFill>
                  <a:schemeClr val="bg1"/>
                </a:solidFill>
              </a:rPr>
              <a:t>Sample image size only. </a:t>
            </a:r>
          </a:p>
          <a:p>
            <a:pPr algn="r"/>
            <a:r>
              <a:rPr lang="en-PH" b="1" dirty="0">
                <a:solidFill>
                  <a:schemeClr val="bg1"/>
                </a:solidFill>
              </a:rPr>
              <a:t>May also change as needed.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4EB6E4-5674-31F6-E16A-296C6D1C40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615" y="0"/>
            <a:ext cx="116340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133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0D7DF78-99EB-48F5-41CD-50F05E0FE5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944" y="835681"/>
            <a:ext cx="5264151" cy="49372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554073-784A-4164-84DE-A1C233636223}"/>
              </a:ext>
            </a:extLst>
          </p:cNvPr>
          <p:cNvSpPr txBox="1"/>
          <p:nvPr/>
        </p:nvSpPr>
        <p:spPr>
          <a:xfrm>
            <a:off x="976085" y="1085042"/>
            <a:ext cx="6682015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PH" sz="4400" b="1" dirty="0">
                <a:solidFill>
                  <a:srgbClr val="1D3784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Initial 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16791B-93B4-4BBA-B383-006C575C2D3D}"/>
              </a:ext>
            </a:extLst>
          </p:cNvPr>
          <p:cNvSpPr txBox="1"/>
          <p:nvPr/>
        </p:nvSpPr>
        <p:spPr>
          <a:xfrm>
            <a:off x="976085" y="2397948"/>
            <a:ext cx="5486859" cy="31085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Agile Development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Steps: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/>
              <a:t>      Data collection (image/video dataset)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/>
              <a:t>      System design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/>
              <a:t>      Implementation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/>
              <a:t>      Testing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66DB04B-9046-4EF0-873C-FAAD55C15A15}"/>
              </a:ext>
            </a:extLst>
          </p:cNvPr>
          <p:cNvSpPr/>
          <p:nvPr/>
        </p:nvSpPr>
        <p:spPr>
          <a:xfrm>
            <a:off x="-2384926" y="1383155"/>
            <a:ext cx="2167432" cy="1792941"/>
          </a:xfrm>
          <a:prstGeom prst="rightArrow">
            <a:avLst>
              <a:gd name="adj1" fmla="val 78000"/>
              <a:gd name="adj2" fmla="val 2202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b="1" dirty="0">
                <a:solidFill>
                  <a:schemeClr val="bg1"/>
                </a:solidFill>
              </a:rPr>
              <a:t>For contents, bullets may be changed into paragraph form.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BCF5F12-E1ED-4133-AE71-10716203CD47}"/>
              </a:ext>
            </a:extLst>
          </p:cNvPr>
          <p:cNvSpPr/>
          <p:nvPr/>
        </p:nvSpPr>
        <p:spPr>
          <a:xfrm flipH="1">
            <a:off x="12729038" y="2532529"/>
            <a:ext cx="2167431" cy="1792941"/>
          </a:xfrm>
          <a:prstGeom prst="rightArrow">
            <a:avLst>
              <a:gd name="adj1" fmla="val 78000"/>
              <a:gd name="adj2" fmla="val 2202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b="1" dirty="0">
                <a:solidFill>
                  <a:schemeClr val="bg1"/>
                </a:solidFill>
              </a:rPr>
              <a:t>Sample image size only. </a:t>
            </a:r>
          </a:p>
          <a:p>
            <a:pPr algn="r"/>
            <a:r>
              <a:rPr lang="en-PH" b="1" dirty="0">
                <a:solidFill>
                  <a:schemeClr val="bg1"/>
                </a:solidFill>
              </a:rPr>
              <a:t>May also change as needed. </a:t>
            </a:r>
          </a:p>
        </p:txBody>
      </p:sp>
    </p:spTree>
    <p:extLst>
      <p:ext uri="{BB962C8B-B14F-4D97-AF65-F5344CB8AC3E}">
        <p14:creationId xmlns:p14="http://schemas.microsoft.com/office/powerpoint/2010/main" val="1292912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5CDE3EF-7C67-4075-AC8F-0FA533886576}"/>
              </a:ext>
            </a:extLst>
          </p:cNvPr>
          <p:cNvSpPr txBox="1"/>
          <p:nvPr/>
        </p:nvSpPr>
        <p:spPr>
          <a:xfrm>
            <a:off x="742951" y="443954"/>
            <a:ext cx="5501348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PH" sz="4400" b="1" dirty="0">
                <a:solidFill>
                  <a:srgbClr val="1D3784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Story Board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B094DD9-9B37-40D6-AFB3-1D5FF7BF6AB6}"/>
              </a:ext>
            </a:extLst>
          </p:cNvPr>
          <p:cNvSpPr/>
          <p:nvPr/>
        </p:nvSpPr>
        <p:spPr>
          <a:xfrm flipH="1">
            <a:off x="12632233" y="2658502"/>
            <a:ext cx="2780220" cy="1792941"/>
          </a:xfrm>
          <a:prstGeom prst="rightArrow">
            <a:avLst>
              <a:gd name="adj1" fmla="val 78000"/>
              <a:gd name="adj2" fmla="val 2202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b="1" dirty="0">
                <a:solidFill>
                  <a:schemeClr val="bg1"/>
                </a:solidFill>
              </a:rPr>
              <a:t>For contents, bullets may be changed into paragraph form.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9E3472D4-DB16-4949-8885-9420DA012B0C}"/>
              </a:ext>
            </a:extLst>
          </p:cNvPr>
          <p:cNvSpPr/>
          <p:nvPr/>
        </p:nvSpPr>
        <p:spPr>
          <a:xfrm>
            <a:off x="-2612971" y="2863040"/>
            <a:ext cx="2167432" cy="1792941"/>
          </a:xfrm>
          <a:prstGeom prst="rightArrow">
            <a:avLst>
              <a:gd name="adj1" fmla="val 78000"/>
              <a:gd name="adj2" fmla="val 2202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b="1" dirty="0">
                <a:solidFill>
                  <a:schemeClr val="bg1"/>
                </a:solidFill>
              </a:rPr>
              <a:t>Sample image size only. </a:t>
            </a:r>
          </a:p>
          <a:p>
            <a:pPr algn="r"/>
            <a:r>
              <a:rPr lang="en-PH" b="1" dirty="0">
                <a:solidFill>
                  <a:schemeClr val="bg1"/>
                </a:solidFill>
              </a:rPr>
              <a:t>May also change as needed.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A5ECE4-135F-E485-02C7-A1A8D8ADCC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38019" y="1087504"/>
            <a:ext cx="2472204" cy="50130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B66C77-6335-AD39-456F-9FF6685457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46634" y="1087505"/>
            <a:ext cx="2459243" cy="49458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41EF7E6-1B41-A86C-7BFB-B5FD2B31AAB0}"/>
              </a:ext>
            </a:extLst>
          </p:cNvPr>
          <p:cNvSpPr txBox="1"/>
          <p:nvPr/>
        </p:nvSpPr>
        <p:spPr>
          <a:xfrm>
            <a:off x="2536332" y="6128351"/>
            <a:ext cx="3275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</a:t>
            </a:r>
            <a:r>
              <a:rPr lang="en-PH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Welcome &amp; Dashboard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CABC2F-B430-0C4A-475B-BF50FC697803}"/>
              </a:ext>
            </a:extLst>
          </p:cNvPr>
          <p:cNvSpPr txBox="1"/>
          <p:nvPr/>
        </p:nvSpPr>
        <p:spPr>
          <a:xfrm>
            <a:off x="6963390" y="6128351"/>
            <a:ext cx="32755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</a:t>
            </a:r>
            <a:r>
              <a:rPr lang="en-PH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Strike Selection</a:t>
            </a:r>
          </a:p>
          <a:p>
            <a:endParaRPr lang="en-PH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831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A4B667-589C-9AF4-25C8-909A32A3D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C69B68-9D6F-503F-E2A4-AD41979E1696}"/>
              </a:ext>
            </a:extLst>
          </p:cNvPr>
          <p:cNvSpPr txBox="1"/>
          <p:nvPr/>
        </p:nvSpPr>
        <p:spPr>
          <a:xfrm>
            <a:off x="742951" y="443954"/>
            <a:ext cx="5501348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PH" sz="4400" b="1" dirty="0">
                <a:solidFill>
                  <a:srgbClr val="1D3784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Story Board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798B090-1E71-C211-E0FA-DF6F15E3CFE3}"/>
              </a:ext>
            </a:extLst>
          </p:cNvPr>
          <p:cNvSpPr/>
          <p:nvPr/>
        </p:nvSpPr>
        <p:spPr>
          <a:xfrm flipH="1">
            <a:off x="12632233" y="2658502"/>
            <a:ext cx="2780220" cy="1792941"/>
          </a:xfrm>
          <a:prstGeom prst="rightArrow">
            <a:avLst>
              <a:gd name="adj1" fmla="val 78000"/>
              <a:gd name="adj2" fmla="val 2202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b="1" dirty="0">
                <a:solidFill>
                  <a:schemeClr val="bg1"/>
                </a:solidFill>
              </a:rPr>
              <a:t>For contents, bullets may be changed into paragraph form.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56F97A6-CCAF-170D-2C81-41EC74E84DD9}"/>
              </a:ext>
            </a:extLst>
          </p:cNvPr>
          <p:cNvSpPr/>
          <p:nvPr/>
        </p:nvSpPr>
        <p:spPr>
          <a:xfrm>
            <a:off x="-2612971" y="2863040"/>
            <a:ext cx="2167432" cy="1792941"/>
          </a:xfrm>
          <a:prstGeom prst="rightArrow">
            <a:avLst>
              <a:gd name="adj1" fmla="val 78000"/>
              <a:gd name="adj2" fmla="val 2202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b="1" dirty="0">
                <a:solidFill>
                  <a:schemeClr val="bg1"/>
                </a:solidFill>
              </a:rPr>
              <a:t>Sample image size only. </a:t>
            </a:r>
          </a:p>
          <a:p>
            <a:pPr algn="r"/>
            <a:r>
              <a:rPr lang="en-PH" b="1" dirty="0">
                <a:solidFill>
                  <a:schemeClr val="bg1"/>
                </a:solidFill>
              </a:rPr>
              <a:t>May also change as needed.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521521-56C0-70C8-4C97-557BF83700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18217" y="1291587"/>
            <a:ext cx="2284695" cy="46981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93B1DC-EE48-7A59-DD18-72120028E2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89089" y="1105009"/>
            <a:ext cx="2392087" cy="48846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E04DB7C-B6A6-2B56-738F-96CD4AA80C35}"/>
              </a:ext>
            </a:extLst>
          </p:cNvPr>
          <p:cNvSpPr txBox="1"/>
          <p:nvPr/>
        </p:nvSpPr>
        <p:spPr>
          <a:xfrm>
            <a:off x="2824163" y="6044714"/>
            <a:ext cx="2580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</a:t>
            </a:r>
            <a:r>
              <a:rPr lang="en-PH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Live Evaluation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7941C5-C8D9-1570-A9BF-22308183124F}"/>
              </a:ext>
            </a:extLst>
          </p:cNvPr>
          <p:cNvSpPr txBox="1"/>
          <p:nvPr/>
        </p:nvSpPr>
        <p:spPr>
          <a:xfrm>
            <a:off x="7089089" y="6044714"/>
            <a:ext cx="2623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4: </a:t>
            </a:r>
            <a:r>
              <a:rPr lang="en-PH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Results</a:t>
            </a:r>
          </a:p>
        </p:txBody>
      </p:sp>
    </p:spTree>
    <p:extLst>
      <p:ext uri="{BB962C8B-B14F-4D97-AF65-F5344CB8AC3E}">
        <p14:creationId xmlns:p14="http://schemas.microsoft.com/office/powerpoint/2010/main" val="1170742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B41654-4FF4-5756-472B-0A804E444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6D79E3-1F99-07E3-8263-623F971EE199}"/>
              </a:ext>
            </a:extLst>
          </p:cNvPr>
          <p:cNvSpPr txBox="1"/>
          <p:nvPr/>
        </p:nvSpPr>
        <p:spPr>
          <a:xfrm>
            <a:off x="742951" y="443954"/>
            <a:ext cx="5950812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PH" sz="4400" b="1" dirty="0">
                <a:solidFill>
                  <a:srgbClr val="1D3784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Story Board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41C154C-7F81-C46B-8DC9-064E63005F0F}"/>
              </a:ext>
            </a:extLst>
          </p:cNvPr>
          <p:cNvSpPr/>
          <p:nvPr/>
        </p:nvSpPr>
        <p:spPr>
          <a:xfrm flipH="1">
            <a:off x="12632233" y="2658502"/>
            <a:ext cx="2780220" cy="1792941"/>
          </a:xfrm>
          <a:prstGeom prst="rightArrow">
            <a:avLst>
              <a:gd name="adj1" fmla="val 78000"/>
              <a:gd name="adj2" fmla="val 2202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b="1" dirty="0">
                <a:solidFill>
                  <a:schemeClr val="bg1"/>
                </a:solidFill>
              </a:rPr>
              <a:t>For contents, bullets may be changed into paragraph form.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F66F518-9180-169F-FE4B-0C9F1FBF46CD}"/>
              </a:ext>
            </a:extLst>
          </p:cNvPr>
          <p:cNvSpPr/>
          <p:nvPr/>
        </p:nvSpPr>
        <p:spPr>
          <a:xfrm>
            <a:off x="-2612971" y="2863040"/>
            <a:ext cx="2167432" cy="1792941"/>
          </a:xfrm>
          <a:prstGeom prst="rightArrow">
            <a:avLst>
              <a:gd name="adj1" fmla="val 78000"/>
              <a:gd name="adj2" fmla="val 2202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b="1" dirty="0">
                <a:solidFill>
                  <a:schemeClr val="bg1"/>
                </a:solidFill>
              </a:rPr>
              <a:t>Sample image size only. </a:t>
            </a:r>
          </a:p>
          <a:p>
            <a:pPr algn="r"/>
            <a:r>
              <a:rPr lang="en-PH" b="1" dirty="0">
                <a:solidFill>
                  <a:schemeClr val="bg1"/>
                </a:solidFill>
              </a:rPr>
              <a:t>May also change as needed.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28BFF4-92AB-86D2-F7F0-525056B981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05574" y="1213395"/>
            <a:ext cx="2338349" cy="4995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AB3329-AF81-3B0D-099E-BA5ABE1443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15421" y="1213395"/>
            <a:ext cx="2456232" cy="499525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4DB57F9-4675-836E-65F3-495FAFA16FBA}"/>
              </a:ext>
            </a:extLst>
          </p:cNvPr>
          <p:cNvSpPr txBox="1"/>
          <p:nvPr/>
        </p:nvSpPr>
        <p:spPr>
          <a:xfrm>
            <a:off x="2915421" y="6249739"/>
            <a:ext cx="3049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5: </a:t>
            </a:r>
            <a:r>
              <a:rPr lang="en-PH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History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9D2EBE-B44F-7CEC-FA01-7669C9297109}"/>
              </a:ext>
            </a:extLst>
          </p:cNvPr>
          <p:cNvSpPr txBox="1"/>
          <p:nvPr/>
        </p:nvSpPr>
        <p:spPr>
          <a:xfrm>
            <a:off x="7380385" y="6249739"/>
            <a:ext cx="31660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6: </a:t>
            </a:r>
            <a:r>
              <a:rPr lang="en-PH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Lessons</a:t>
            </a:r>
          </a:p>
        </p:txBody>
      </p:sp>
    </p:spTree>
    <p:extLst>
      <p:ext uri="{BB962C8B-B14F-4D97-AF65-F5344CB8AC3E}">
        <p14:creationId xmlns:p14="http://schemas.microsoft.com/office/powerpoint/2010/main" val="1323361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35A0CA-9EA0-CA22-1052-48D217AA9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3BC134F-901E-8B60-1985-40719205399B}"/>
              </a:ext>
            </a:extLst>
          </p:cNvPr>
          <p:cNvSpPr txBox="1"/>
          <p:nvPr/>
        </p:nvSpPr>
        <p:spPr>
          <a:xfrm>
            <a:off x="742951" y="443954"/>
            <a:ext cx="5950812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PH" sz="4400" b="1" dirty="0">
                <a:solidFill>
                  <a:srgbClr val="1D3784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Story Board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1EE3E28E-D05F-F0B8-452C-E384E12B88AF}"/>
              </a:ext>
            </a:extLst>
          </p:cNvPr>
          <p:cNvSpPr/>
          <p:nvPr/>
        </p:nvSpPr>
        <p:spPr>
          <a:xfrm flipH="1">
            <a:off x="12632233" y="2658502"/>
            <a:ext cx="2780220" cy="1792941"/>
          </a:xfrm>
          <a:prstGeom prst="rightArrow">
            <a:avLst>
              <a:gd name="adj1" fmla="val 78000"/>
              <a:gd name="adj2" fmla="val 2202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b="1" dirty="0">
                <a:solidFill>
                  <a:schemeClr val="bg1"/>
                </a:solidFill>
              </a:rPr>
              <a:t>For contents, bullets may be changed into paragraph form.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346F800-4D2A-1BF7-F70A-9BACAE43D0AF}"/>
              </a:ext>
            </a:extLst>
          </p:cNvPr>
          <p:cNvSpPr/>
          <p:nvPr/>
        </p:nvSpPr>
        <p:spPr>
          <a:xfrm>
            <a:off x="-2612971" y="2863040"/>
            <a:ext cx="2167432" cy="1792941"/>
          </a:xfrm>
          <a:prstGeom prst="rightArrow">
            <a:avLst>
              <a:gd name="adj1" fmla="val 78000"/>
              <a:gd name="adj2" fmla="val 2202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b="1" dirty="0">
                <a:solidFill>
                  <a:schemeClr val="bg1"/>
                </a:solidFill>
              </a:rPr>
              <a:t>Sample image size only. </a:t>
            </a:r>
          </a:p>
          <a:p>
            <a:pPr algn="r"/>
            <a:r>
              <a:rPr lang="en-PH" b="1" dirty="0">
                <a:solidFill>
                  <a:schemeClr val="bg1"/>
                </a:solidFill>
              </a:rPr>
              <a:t>May also change as needed.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937ACB-48BE-1C4D-AF5D-4960B6A6A5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1891" y="1473011"/>
            <a:ext cx="2286499" cy="457299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0FB2CC6-B5CF-2F2F-3DA8-43E2D33975F4}"/>
              </a:ext>
            </a:extLst>
          </p:cNvPr>
          <p:cNvSpPr txBox="1"/>
          <p:nvPr/>
        </p:nvSpPr>
        <p:spPr>
          <a:xfrm>
            <a:off x="4587741" y="6046009"/>
            <a:ext cx="31660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7: </a:t>
            </a:r>
            <a:r>
              <a:rPr lang="en-PH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Assistant</a:t>
            </a:r>
          </a:p>
        </p:txBody>
      </p:sp>
    </p:spTree>
    <p:extLst>
      <p:ext uri="{BB962C8B-B14F-4D97-AF65-F5344CB8AC3E}">
        <p14:creationId xmlns:p14="http://schemas.microsoft.com/office/powerpoint/2010/main" val="3051022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303FFD-F5D1-4E1F-8893-8B3F1F00170C}"/>
              </a:ext>
            </a:extLst>
          </p:cNvPr>
          <p:cNvSpPr/>
          <p:nvPr/>
        </p:nvSpPr>
        <p:spPr>
          <a:xfrm>
            <a:off x="-2705100" y="35410"/>
            <a:ext cx="2349500" cy="407939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b="1" dirty="0"/>
              <a:t>FOR EXTERNAL PRESENTATIONS:</a:t>
            </a:r>
          </a:p>
          <a:p>
            <a:pPr algn="ctr"/>
            <a:endParaRPr lang="en-PH" b="1" dirty="0"/>
          </a:p>
          <a:p>
            <a:pPr algn="ctr"/>
            <a:r>
              <a:rPr lang="en-PH" dirty="0"/>
              <a:t>Keep this as </a:t>
            </a:r>
          </a:p>
          <a:p>
            <a:pPr algn="ctr"/>
            <a:r>
              <a:rPr lang="en-PH" dirty="0"/>
              <a:t>a </a:t>
            </a:r>
            <a:r>
              <a:rPr lang="en-PH" b="1" dirty="0"/>
              <a:t>STAPLE</a:t>
            </a:r>
            <a:r>
              <a:rPr lang="en-PH" dirty="0"/>
              <a:t> slide </a:t>
            </a:r>
          </a:p>
          <a:p>
            <a:pPr algn="ctr"/>
            <a:r>
              <a:rPr lang="en-PH" dirty="0"/>
              <a:t>at the end of the presentation. </a:t>
            </a:r>
          </a:p>
          <a:p>
            <a:pPr algn="ctr"/>
            <a:endParaRPr lang="en-PH" dirty="0"/>
          </a:p>
          <a:p>
            <a:pPr algn="ctr"/>
            <a:r>
              <a:rPr lang="en-PH" dirty="0"/>
              <a:t>A slide </a:t>
            </a:r>
            <a:r>
              <a:rPr lang="en-PH" b="1" dirty="0"/>
              <a:t>after</a:t>
            </a:r>
            <a:r>
              <a:rPr lang="en-PH" dirty="0"/>
              <a:t> this staple slide may be created for the personal contact information of the presenter. </a:t>
            </a:r>
          </a:p>
        </p:txBody>
      </p:sp>
    </p:spTree>
    <p:extLst>
      <p:ext uri="{BB962C8B-B14F-4D97-AF65-F5344CB8AC3E}">
        <p14:creationId xmlns:p14="http://schemas.microsoft.com/office/powerpoint/2010/main" val="1108065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1014</TotalTime>
  <Words>807</Words>
  <Application>Microsoft Office PowerPoint</Application>
  <PresentationFormat>Widescreen</PresentationFormat>
  <Paragraphs>110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Century Gothic</vt:lpstr>
      <vt:lpstr>Times New Roman</vt:lpstr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Bry 23</cp:lastModifiedBy>
  <cp:revision>74</cp:revision>
  <cp:lastPrinted>2024-11-08T05:53:13Z</cp:lastPrinted>
  <dcterms:created xsi:type="dcterms:W3CDTF">2024-11-07T02:19:29Z</dcterms:created>
  <dcterms:modified xsi:type="dcterms:W3CDTF">2026-05-27T14:27:56Z</dcterms:modified>
</cp:coreProperties>
</file>